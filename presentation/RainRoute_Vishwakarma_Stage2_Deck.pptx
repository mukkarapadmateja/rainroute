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_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lide_1_img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2103120"/>
            <a:ext cx="5852160" cy="5943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3840480" y="2788920"/>
            <a:ext cx="4572000" cy="411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7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2341"/>
                </a:solidFill>
              </a:defRPr>
            </a:pPr>
            <a:r>
              <a:t>Application ID: VK26-IITH-SC-0552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9448495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0F2341"/>
                </a:solidFill>
              </a:defRPr>
            </a:pPr>
            <a:r>
              <a:t>RAINROUTE</a:t>
            </a:r>
          </a:p>
          <a:p>
            <a:pPr algn="ctr">
              <a:spcAft>
                <a:spcPts val="800"/>
              </a:spcAft>
              <a:defRPr sz="1500" b="1">
                <a:solidFill>
                  <a:srgbClr val="107C41"/>
                </a:solidFill>
              </a:defRPr>
            </a:pPr>
            <a:r>
              <a:t>Road Flood Early-Warning &amp; Manhole Hazard Detection Network</a:t>
            </a:r>
          </a:p>
          <a:p>
            <a:pPr algn="ctr">
              <a:spcAft>
                <a:spcPts val="1000"/>
              </a:spcAft>
              <a:defRPr sz="1000">
                <a:solidFill>
                  <a:srgbClr val="1E293B"/>
                </a:solidFill>
              </a:defRPr>
            </a:pPr>
            <a:r>
              <a:t>Core Innovation: An autonomous solar-powered roadside IoT early-warning network that protects two-wheelers and public transit by detecting flash-flood depths and displaced manholes in real time with zero-loss edge caching.</a:t>
            </a:r>
          </a:p>
          <a:p>
            <a:pPr algn="ctr">
              <a:spcAft>
                <a:spcPts val="600"/>
              </a:spcAft>
              <a:defRPr sz="1050" b="1">
                <a:solidFill>
                  <a:srgbClr val="0277BD"/>
                </a:solidFill>
              </a:defRPr>
            </a:pPr>
            <a:r>
              <a:t>Theme: Sustainable Cities   |   Track: Micro-Mobility &amp; Public Transit Integration   |   SDG Alignment: 11, 9, 3, 13, 6, 7</a:t>
            </a:r>
          </a:p>
          <a:p>
            <a:pPr algn="ctr">
              <a:defRPr sz="900">
                <a:solidFill>
                  <a:srgbClr val="64748B"/>
                </a:solidFill>
              </a:defRPr>
            </a:pPr>
            <a:r>
              <a:t>Institution: Vardhaman College of Engineering, Hyderabad, Telangana   |   Mentor: Sowmya M (Assistant Professor, Dept. of CSE)</a:t>
            </a:r>
            <a:br/>
            <a:r>
              <a:t>Team: Mukkara Padma Teja (Lead, 26881A05V7), Reddyshetti Astrija (26881A05T3), Mavillapalli Akhil Rao (26881A6768), Kanugula Srinidhi (26881A05X5), Molugu Aashritha (26881A05R9)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fficial_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686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960120"/>
            <a:ext cx="4114800" cy="3200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7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277BD"/>
                </a:solidFill>
              </a:defRPr>
            </a:pPr>
            <a:r>
              <a:t>PROBLEM CONTEXT (1-2 SLIDES)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932688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F2341"/>
                </a:solidFill>
              </a:defRPr>
            </a:pPr>
            <a:r>
              <a:t>APP ID: VK26-IITH-SC-0552 | TRACK: SUSTAINABLE CITIES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2341"/>
                </a:solidFill>
              </a:defRPr>
            </a:pPr>
            <a:r>
              <a:t>Urban Road Inundation: The Fatal Micro-Mobility &amp; Transit Chokepoint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Target Beneficiaries: Two-Wheeler Commuters, Public Bus Transit &amp; Municipal Emergency Responders</a:t>
            </a:r>
          </a:p>
        </p:txBody>
      </p:sp>
      <p:pic>
        <p:nvPicPr>
          <p:cNvPr id="6" name="Picture 5" descr="slide_4_img_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63640"/>
            <a:ext cx="1645920" cy="502920"/>
          </a:xfrm>
          <a:prstGeom prst="rect">
            <a:avLst/>
          </a:prstGeom>
        </p:spPr>
      </p:pic>
      <p:pic>
        <p:nvPicPr>
          <p:cNvPr id="7" name="Picture 6" descr="slide_4_img_3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40" y="6263640"/>
            <a:ext cx="105156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2011680"/>
            <a:ext cx="256032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DC2626"/>
                </a:solidFill>
              </a:defRPr>
            </a:pPr>
            <a:r>
              <a:t>45-90 Mins</a:t>
            </a:r>
          </a:p>
          <a:p>
            <a:pPr algn="ctr">
              <a:defRPr sz="750" b="1">
                <a:solidFill>
                  <a:srgbClr val="64748B"/>
                </a:solidFill>
              </a:defRPr>
            </a:pPr>
            <a:r>
              <a:t>CORRIDOR TRANSIT DELAY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2011680"/>
            <a:ext cx="256032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7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0277BD"/>
                </a:solidFill>
              </a:defRPr>
            </a:pPr>
            <a:r>
              <a:t>₹18k-₹65k</a:t>
            </a:r>
          </a:p>
          <a:p>
            <a:pPr algn="ctr">
              <a:defRPr sz="750" b="1">
                <a:solidFill>
                  <a:srgbClr val="64748B"/>
                </a:solidFill>
              </a:defRPr>
            </a:pPr>
            <a:r>
              <a:t>HYDROLOCK ENGINE DAMAGE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2011680"/>
            <a:ext cx="256032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DC2626"/>
                </a:solidFill>
              </a:defRPr>
            </a:pPr>
            <a:r>
              <a:t>&gt;1,500/Yr</a:t>
            </a:r>
          </a:p>
          <a:p>
            <a:pPr algn="ctr">
              <a:defRPr sz="750" b="1">
                <a:solidFill>
                  <a:srgbClr val="64748B"/>
                </a:solidFill>
              </a:defRPr>
            </a:pPr>
            <a:r>
              <a:t>OPEN MANHOLE CASUALTIES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2011680"/>
            <a:ext cx="256032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23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0F2341"/>
                </a:solidFill>
              </a:defRPr>
            </a:pPr>
            <a:r>
              <a:t>0 Min</a:t>
            </a:r>
          </a:p>
          <a:p>
            <a:pPr algn="ctr">
              <a:defRPr sz="750" b="1">
                <a:solidFill>
                  <a:srgbClr val="64748B"/>
                </a:solidFill>
              </a:defRPr>
            </a:pPr>
            <a:r>
              <a:t>PRIOR ROAD-LEVEL WARNING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017520"/>
            <a:ext cx="5212080" cy="31089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spcAft>
                <a:spcPts val="400"/>
              </a:spcAft>
              <a:defRPr sz="1100" b="1">
                <a:solidFill>
                  <a:srgbClr val="0F2341"/>
                </a:solidFill>
              </a:defRPr>
            </a:pPr>
            <a:r>
              <a:t>Target Beneficiary &amp; High Vulnerability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Two-Wheeler Riders (Micro-Mobility): Ingress &gt;150mm floods exhaust mufflers, seizing engines instantly; EV scooters suffer battery short-circuiting.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Public Transit Buses (TSRTC/BMTC): Low-floor city buses cannot navigate submerged underpasses, stranding thousands of daily passengers.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Emergency Services (108 Ambulances): Blind navigation into flooded underpasses traps emergency vehicles with critical patients.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Gig Delivery Workers: Swiggy/Zomato/Rapido delivery partners lose daily earnings and face fatal falls into submerged open drains.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017520"/>
            <a:ext cx="5212080" cy="31089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spcAft>
                <a:spcPts val="400"/>
              </a:spcAft>
              <a:defRPr sz="1100" b="1">
                <a:solidFill>
                  <a:srgbClr val="0F2341"/>
                </a:solidFill>
              </a:defRPr>
            </a:pPr>
            <a:r>
              <a:t>Operational Bottleneck &amp; Market Failure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Rapid Underpass Inundation (&lt;20 Mins): In heavy rain, low-elevation underpass sag points drown before traffic police can place physical barricades.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Submerged Open Manholes: Storm drain hydraulic backpressure blows manhole covers off, creating invisible deathtraps under dirty water.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Consumer Navigation Deficiency: Google Maps only reflects traffic slowdown after vehicles have already stalled; cannot detect actual water depth.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Civic Macro-Alert Limitations: City-wide 'Orange/Red' weather alerts do not inform commuters which street dip or underpass is flooded.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fficial_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686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960120"/>
            <a:ext cx="4114800" cy="3200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7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277BD"/>
                </a:solidFill>
              </a:defRPr>
            </a:pPr>
            <a:r>
              <a:t>USER JOURNEY (1-2 SLIDES)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932688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F2341"/>
                </a:solidFill>
              </a:defRPr>
            </a:pPr>
            <a:r>
              <a:t>APP ID: VK26-IITH-SC-0552 | TRACK: SUSTAINABLE CITIES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2341"/>
                </a:solidFill>
              </a:defRPr>
            </a:pPr>
            <a:r>
              <a:t>Before State: The Vulnerable Commuter Trapped in Monsoon Chaos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Current Pain Point Mapping &amp; Quantified Inefficiency</a:t>
            </a:r>
          </a:p>
        </p:txBody>
      </p:sp>
      <p:pic>
        <p:nvPicPr>
          <p:cNvPr id="6" name="Picture 5" descr="slide_4_img_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63640"/>
            <a:ext cx="1645920" cy="502920"/>
          </a:xfrm>
          <a:prstGeom prst="rect">
            <a:avLst/>
          </a:prstGeom>
        </p:spPr>
      </p:pic>
      <p:pic>
        <p:nvPicPr>
          <p:cNvPr id="7" name="Picture 6" descr="slide_4_img_3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40" y="6263640"/>
            <a:ext cx="105156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2011680"/>
            <a:ext cx="20116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DC2626"/>
                </a:solidFill>
              </a:defRPr>
            </a:pPr>
            <a:r>
              <a:t>1. Cloudburst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Heavy rain begins; storm runoff exceeds culvert capacity in underpasses within 15 mins.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07791" y="2011680"/>
            <a:ext cx="20116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DC2626"/>
                </a:solidFill>
              </a:defRPr>
            </a:pPr>
            <a:r>
              <a:t>2. Blind Travel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Commuter follows habitual route; consumer navigation shows green/clear path.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4064" y="2011680"/>
            <a:ext cx="20116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DC2626"/>
                </a:solidFill>
              </a:defRPr>
            </a:pPr>
            <a:r>
              <a:t>3. Sudden Flood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Reaches underpass sag point; water depth already exceeds 300mm.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0336" y="2011680"/>
            <a:ext cx="20116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DC2626"/>
                </a:solidFill>
              </a:defRPr>
            </a:pPr>
            <a:r>
              <a:t>4. Stalling / Fall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Exhaust water ingestion causes hydrolock; severe risk of falling into open manhole.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36608" y="2011680"/>
            <a:ext cx="20116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DC2626"/>
                </a:solidFill>
              </a:defRPr>
            </a:pPr>
            <a:r>
              <a:t>5. Gridlock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Vehicle breakdown bottlenecks subsequent traffic, paralyzing buses and ambulances.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663440"/>
            <a:ext cx="10728655" cy="14630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spcAft>
                <a:spcPts val="400"/>
              </a:spcAft>
              <a:defRPr sz="1100" b="1">
                <a:solidFill>
                  <a:srgbClr val="0F2341"/>
                </a:solidFill>
              </a:defRPr>
            </a:pPr>
            <a:r>
              <a:t>Quantified Before-State Loss Benchmark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Financial Impact: ₹25,000 average engine replacement cost for four-wheelers; ₹4,500 average overhaul cost for two-wheelers.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Transit Paralysis: A single stalled bus in an underpass bottlenecks an average of 4,200 vehicles/hour across major metro corridors.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Safety Hazard: 73% of urban drowning deaths during monsoons occur at underpasses and open manholes (NDMA Audit Data).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fficial_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686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960120"/>
            <a:ext cx="4114800" cy="3200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7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277BD"/>
                </a:solidFill>
              </a:defRPr>
            </a:pPr>
            <a:r>
              <a:t>USER JOURNEY (1-2 SLIDES)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932688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F2341"/>
                </a:solidFill>
              </a:defRPr>
            </a:pPr>
            <a:r>
              <a:t>APP ID: VK26-IITH-SC-0552 | TRACK: SUSTAINABLE CITIES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2341"/>
                </a:solidFill>
              </a:defRPr>
            </a:pPr>
            <a:r>
              <a:t>After State: Proactive Telemetry &amp; Autonomous Hazard Diversion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Visual Solution Mapping &amp; Quantified Safety Gains</a:t>
            </a:r>
          </a:p>
        </p:txBody>
      </p:sp>
      <p:pic>
        <p:nvPicPr>
          <p:cNvPr id="6" name="Picture 5" descr="slide_4_img_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63640"/>
            <a:ext cx="1645920" cy="502920"/>
          </a:xfrm>
          <a:prstGeom prst="rect">
            <a:avLst/>
          </a:prstGeom>
        </p:spPr>
      </p:pic>
      <p:pic>
        <p:nvPicPr>
          <p:cNvPr id="7" name="Picture 6" descr="slide_4_img_3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40" y="6263640"/>
            <a:ext cx="105156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2011680"/>
            <a:ext cx="2011680" cy="246888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107C41"/>
                </a:solidFill>
              </a:defRPr>
            </a:pPr>
            <a:r>
              <a:t>1. Early Detection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JSN-SR04T reads water level; MPU-6050 monitors manhole tilt at roadside node.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07791" y="2011680"/>
            <a:ext cx="2011680" cy="246888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107C41"/>
                </a:solidFill>
              </a:defRPr>
            </a:pPr>
            <a:r>
              <a:t>2. Edge Filtering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ESP32 executes 5-sample median filter, rejecting truck spray noise instantly.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4064" y="2011680"/>
            <a:ext cx="2011680" cy="246888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107C41"/>
                </a:solidFill>
              </a:defRPr>
            </a:pPr>
            <a:r>
              <a:t>3. Zero-Loss Sync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Timestamped data cached to MicroSD; broadcast to Firestore &amp; offline BLE beacon.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0336" y="2011680"/>
            <a:ext cx="2011680" cy="246888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107C41"/>
                </a:solidFill>
              </a:defRPr>
            </a:pPr>
            <a:r>
              <a:t>4. Push Alert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Commuter receives vehicle-specific push: 2-Wheelers diverted to flyover; Buses cleared.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36608" y="2011680"/>
            <a:ext cx="2011680" cy="246888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107C41"/>
                </a:solidFill>
              </a:defRPr>
            </a:pPr>
            <a:r>
              <a:t>5. Safe Flow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Zero vehicles stranded; emergency 108 ambulances pre-diverted; road gridlock avoided.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663440"/>
            <a:ext cx="10728655" cy="146304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spcAft>
                <a:spcPts val="400"/>
              </a:spcAft>
              <a:defRPr sz="1100" b="1">
                <a:solidFill>
                  <a:srgbClr val="0F2341"/>
                </a:solidFill>
              </a:defRPr>
            </a:pPr>
            <a:r>
              <a:t>Quantified Post-Innovation Efficiency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85% Reduction in vehicle hydrolock stalls and towing incidents across monitored arterial corridors.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&lt;10 Seconds End-to-End Latency from water reaching threshold depth to smartphone alert and LED batten flashing.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100% Elimination of blind fall injuries into displaced or open manhole covers.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fficial_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686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960120"/>
            <a:ext cx="4114800" cy="3200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7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277BD"/>
                </a:solidFill>
              </a:defRPr>
            </a:pPr>
            <a:r>
              <a:t>SYSTEM ARCHITECTURE &amp; SPECS (1-2 SLIDES)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932688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F2341"/>
                </a:solidFill>
              </a:defRPr>
            </a:pPr>
            <a:r>
              <a:t>APP ID: VK26-IITH-SC-0552 | TRACK: SUSTAINABLE CITIES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2341"/>
                </a:solidFill>
              </a:defRPr>
            </a:pPr>
            <a:r>
              <a:t>Multi-Tier Edge-to-Cloud System Architecture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Integrated Hardware, Power, Firmware &amp; Mobile Subsystems</a:t>
            </a:r>
          </a:p>
        </p:txBody>
      </p:sp>
      <p:pic>
        <p:nvPicPr>
          <p:cNvPr id="6" name="Picture 5" descr="slide_4_img_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63640"/>
            <a:ext cx="1645920" cy="502920"/>
          </a:xfrm>
          <a:prstGeom prst="rect">
            <a:avLst/>
          </a:prstGeom>
        </p:spPr>
      </p:pic>
      <p:pic>
        <p:nvPicPr>
          <p:cNvPr id="7" name="Picture 6" descr="slide_4_img_3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40" y="6263640"/>
            <a:ext cx="105156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2011680"/>
            <a:ext cx="5212080" cy="2011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spcAft>
                <a:spcPts val="400"/>
              </a:spcAft>
              <a:defRPr sz="1100" b="1">
                <a:solidFill>
                  <a:srgbClr val="0F2341"/>
                </a:solidFill>
              </a:defRPr>
            </a:pPr>
            <a:r>
              <a:t>Subsystem 1: Roadside Sensing &amp; Power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Ultrasonic Hydrology: JSN-SR04T waterproof transducer (IP67) mounted at 2.5m overhang over road gutter.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Manhole IMU Pod: MPU-6050 6-DOF sensor bolted under cast-iron lid with neoprene vibration dampeners.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Autonomous Solar Harvesting: 5V 2.5W monocrystalline solar panel coupled with TP4056 CC/CV charging IC.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Energy Storage: 3.7V 2600mAh 18650 Li-ion cell providing 96 hours of continuous overcast runtime.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212080" cy="2011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spcAft>
                <a:spcPts val="400"/>
              </a:spcAft>
              <a:defRPr sz="1100" b="1">
                <a:solidFill>
                  <a:srgbClr val="0F2341"/>
                </a:solidFill>
              </a:defRPr>
            </a:pPr>
            <a:r>
              <a:t>Subsystem 2: Edge Resilience &amp; Processing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Core Processing: ESP32 dual-core Xtensa 32-bit LX6 MCU operating at 240 MHz.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Digital Signal Processing: 10-sample moving-median filter rejects vehicle tyre spray artifacts.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Zero-Loss Data Retention: Onboard SPI MicroSD breakout logs timestamped readings during network outages.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Dual-Channel Transmission: MQTT over TLS for cloud sync + BLE Eddystone beaconing for offline alerts.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60520"/>
            <a:ext cx="10728655" cy="19659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spcAft>
                <a:spcPts val="400"/>
              </a:spcAft>
              <a:defRPr sz="1100" b="1">
                <a:solidFill>
                  <a:srgbClr val="0F2341"/>
                </a:solidFill>
              </a:defRPr>
            </a:pPr>
            <a:r>
              <a:t>Subsystem 3: Cloud Backend, Analytics &amp; Commuter Applications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Real-Time Cloud Backend: Google Cloud Firestore provides sub-second live database synchronization with mobile clients.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Cold Storage &amp; AI Training: Long-term logs archived in Google Cloud BigQuery and AWS S3 for rainfall-runoff predictive modeling.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Cross-Platform Commuter App: Flutter-based mobile app displays color-coded flood maps, customized vehicle clearance advisories, and rerouting.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Municipal Operations Web Portal: Authority dashboard provides real-time sensor node battery health, rising-water alarms, and verified community reports.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fficial_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686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960120"/>
            <a:ext cx="4114800" cy="3200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7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277BD"/>
                </a:solidFill>
              </a:defRPr>
            </a:pPr>
            <a:r>
              <a:t>SYSTEM ARCHITECTURE &amp; SPECS (1-2 SLIDES)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932688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F2341"/>
                </a:solidFill>
              </a:defRPr>
            </a:pPr>
            <a:r>
              <a:t>APP ID: VK26-IITH-SC-0552 | TRACK: SUSTAINABLE CITIES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2341"/>
                </a:solidFill>
              </a:defRPr>
            </a:pPr>
            <a:r>
              <a:t>Engineering Target Specifications &amp; Hardware Selection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Quantitative Operational Targets &amp; Architecture Justifications</a:t>
            </a:r>
          </a:p>
        </p:txBody>
      </p:sp>
      <p:pic>
        <p:nvPicPr>
          <p:cNvPr id="6" name="Picture 5" descr="slide_4_img_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63640"/>
            <a:ext cx="1645920" cy="502920"/>
          </a:xfrm>
          <a:prstGeom prst="rect">
            <a:avLst/>
          </a:prstGeom>
        </p:spPr>
      </p:pic>
      <p:pic>
        <p:nvPicPr>
          <p:cNvPr id="7" name="Picture 6" descr="slide_4_img_3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40" y="6263640"/>
            <a:ext cx="1051560" cy="50292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2011680"/>
          <a:ext cx="1072865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560320"/>
                <a:gridCol w="2926080"/>
                <a:gridCol w="3047695"/>
              </a:tblGrid>
              <a:tr h="58782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Target Specification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Selected Hardware / Protocol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Engineering Rationale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Water Depth 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20 mm – 4,000 mm (±5 mm)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JSN-SR04T IP67 Transducer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20cm blind zone eliminated via 2.5m elevation overhang.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Manhole Displacement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Tilt &gt;12° or shock &gt;1.8g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MPU-6050 Accelerometer/Gyro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Detects displaced/blown covers; ignores road traffic vibration.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Sampling &amp; 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50 Hz loop; 10s broadcast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ESP32-WROOM-32D Dual 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Dual-core separates sensor DSP from Wi-Fi stack safely.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Local Data Retention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30+ Days offline backup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SPI MicroSD Breakout (16GB)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FAT32 ring buffer prevents data loss during cellular crashes.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Autonomous Runtime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≥96 Hours without sunlight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18650 3.7V (2600mAh) + Solar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Self-sustaining solar harvesting; dynamic deep sleep &lt;3.4V.</a:t>
                      </a:r>
                    </a:p>
                  </a:txBody>
                  <a:tcPr/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Telemetry Payload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&lt;250 Bytes per JSON packet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MQTT / HTTPS over TLS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E293B"/>
                          </a:solidFill>
                        </a:defRPr>
                      </a:pPr>
                      <a:r>
                        <a:t>Ultra-low bandwidth payload for instantaneous map rendering.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fficial_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686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960120"/>
            <a:ext cx="4114800" cy="3200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7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277BD"/>
                </a:solidFill>
              </a:defRPr>
            </a:pPr>
            <a:r>
              <a:t>CAD DESIGN &amp; MECHANICAL SPECS (1-2 SLIDES)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932688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F2341"/>
                </a:solidFill>
              </a:defRPr>
            </a:pPr>
            <a:r>
              <a:t>APP ID: VK26-IITH-SC-0552 | TRACK: SUSTAINABLE CITIES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2341"/>
                </a:solidFill>
              </a:defRPr>
            </a:pPr>
            <a:r>
              <a:t>Mechanical CAD Assembly &amp; 3D Exploded View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IP65 Weatherproof Enclosure, Acoustic Drip Collimator &amp; Manhole Pod</a:t>
            </a:r>
          </a:p>
        </p:txBody>
      </p:sp>
      <p:pic>
        <p:nvPicPr>
          <p:cNvPr id="6" name="Picture 5" descr="slide_4_img_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63640"/>
            <a:ext cx="1645920" cy="502920"/>
          </a:xfrm>
          <a:prstGeom prst="rect">
            <a:avLst/>
          </a:prstGeom>
        </p:spPr>
      </p:pic>
      <p:pic>
        <p:nvPicPr>
          <p:cNvPr id="7" name="Picture 6" descr="slide_4_img_3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40" y="6263640"/>
            <a:ext cx="1051560" cy="502920"/>
          </a:xfrm>
          <a:prstGeom prst="rect">
            <a:avLst/>
          </a:prstGeom>
        </p:spPr>
      </p:pic>
      <p:pic>
        <p:nvPicPr>
          <p:cNvPr id="8" name="Picture 7" descr="rainroute_cad_assembl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011680"/>
            <a:ext cx="6583680" cy="41148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98079" y="2011680"/>
            <a:ext cx="3962095" cy="41148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spcAft>
                <a:spcPts val="400"/>
              </a:spcAft>
              <a:defRPr sz="1100" b="1">
                <a:solidFill>
                  <a:srgbClr val="0F2341"/>
                </a:solidFill>
              </a:defRPr>
            </a:pPr>
            <a:r>
              <a:t>Mechanical Architecture Callouts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1. UV-Stabilized Polycarbonate Top Cover: 2.5mm transparent lid with M4 brass threaded inserts for easy field maintenance.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2. Continuous Neoprene Silicone Gasket: Rated IP65/IP67, preventing high-pressure monsoon spray water ingress.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3. Internal PETG Carrier Plate: 3D printed snap-fit chassis organizing ESP32, TP4056, and 18650 cell safely.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4. ABS-FR Outer Body: Flame-retardant (UL94-V0) housing (120x80x55mm) with IP68 PG7 cable glands.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5. 45° Rain Splash Drip Collimator: Recessed ultrasonic horn sheds rain droplets naturally, preventing acoustic echo deadening.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6. Manhole IMU Pod: Hermetic puck attached via dual N52 neodymium magnets and 5mm neoprene vibration dampeners.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fficial_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686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960120"/>
            <a:ext cx="4114800" cy="3200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7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277BD"/>
                </a:solidFill>
              </a:defRPr>
            </a:pPr>
            <a:r>
              <a:t>CAD DESIGN &amp; MECHANICAL SPECS (1-2 SLIDES)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932688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F2341"/>
                </a:solidFill>
              </a:defRPr>
            </a:pPr>
            <a:r>
              <a:t>APP ID: VK26-IITH-SC-0552 | TRACK: SUSTAINABLE CITIES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2341"/>
                </a:solidFill>
              </a:defRPr>
            </a:pPr>
            <a:r>
              <a:t>Mechanical Validation &amp; FEA Structural Stress Report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Cyclonic Wind Load Simulation, Dynamic Shocks &amp; Material Integrity</a:t>
            </a:r>
          </a:p>
        </p:txBody>
      </p:sp>
      <p:pic>
        <p:nvPicPr>
          <p:cNvPr id="6" name="Picture 5" descr="slide_4_img_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63640"/>
            <a:ext cx="1645920" cy="502920"/>
          </a:xfrm>
          <a:prstGeom prst="rect">
            <a:avLst/>
          </a:prstGeom>
        </p:spPr>
      </p:pic>
      <p:pic>
        <p:nvPicPr>
          <p:cNvPr id="7" name="Picture 6" descr="slide_4_img_3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40" y="6263640"/>
            <a:ext cx="105156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2011680"/>
            <a:ext cx="5212080" cy="41148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spcAft>
                <a:spcPts val="400"/>
              </a:spcAft>
              <a:defRPr sz="1100" b="1">
                <a:solidFill>
                  <a:srgbClr val="0F2341"/>
                </a:solidFill>
              </a:defRPr>
            </a:pPr>
            <a:r>
              <a:t>Material Selection &amp; Engineering Rationale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Chassis Body: UL94-V0 Flame-Retardant ABS-FR polymer (Wall thickness: 2.8mm, Total Mass: 145g, Tensile Yield: 45 MPa).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Sensor Splash Shield: UV-resistant PETG with 45° incline geometry, preventing droplet adhesion on acoustic transducer face.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Mounting Pole Bracket: 6061-T6 Anodized Aluminum universal clamp plate with dual stainless steel U-bolts (Tensile Yield: 276 MPa).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Manhole Pod Encapsulation: IP68 silicone-potted puck with 2.0-meter submersion rating, completely immune to corrosive sewer gases (H2S).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212080" cy="41148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spcAft>
                <a:spcPts val="400"/>
              </a:spcAft>
              <a:defRPr sz="1100" b="1">
                <a:solidFill>
                  <a:srgbClr val="0F2341"/>
                </a:solidFill>
              </a:defRPr>
            </a:pPr>
            <a:r>
              <a:t>FEA Loading Simulation &amp; Stress Results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Dynamic Wind Load Rating: Simulated under 120 km/h cyclonic gale gusts (Peak horizontal drag force: 350 N).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Peak Von Mises Stress: Concentrated peak stress of 88.4 MPa located at bracket fillet weldment.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Factor of Safety (FoS): Minimum FoS = 3.12 (Allowable yield 276 MPa / Stress 88.4 MPa), safely exceeding competition requirement (&gt;2.0).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Maximum Cantilever Deflection: 0.38 mm along the sensor extension arm, well within the vertical ultrasonic beam divergence tolerance (±3°).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Vibration Isolation: 5mm neoprene dampening pad attenuates road rumble frequencies (10–50 Hz), preventing vehicle false alarms.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fficial_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686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960120"/>
            <a:ext cx="4114800" cy="3200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7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277BD"/>
                </a:solidFill>
              </a:defRPr>
            </a:pPr>
            <a:r>
              <a:t>ELECTRONICS SCHEMATICS &amp; BOM (1-2 SLIDES)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932688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F2341"/>
                </a:solidFill>
              </a:defRPr>
            </a:pPr>
            <a:r>
              <a:t>APP ID: VK26-IITH-SC-0552 | TRACK: SUSTAINABLE CITIES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2341"/>
                </a:solidFill>
              </a:defRPr>
            </a:pPr>
            <a:r>
              <a:t>Master Circuit Schematics &amp; Power Distribution Network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Voltage Regulation, Signal Conditioning &amp; Subsystem Interfaces</a:t>
            </a:r>
          </a:p>
        </p:txBody>
      </p:sp>
      <p:pic>
        <p:nvPicPr>
          <p:cNvPr id="6" name="Picture 5" descr="slide_4_img_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63640"/>
            <a:ext cx="1645920" cy="502920"/>
          </a:xfrm>
          <a:prstGeom prst="rect">
            <a:avLst/>
          </a:prstGeom>
        </p:spPr>
      </p:pic>
      <p:pic>
        <p:nvPicPr>
          <p:cNvPr id="7" name="Picture 6" descr="slide_4_img_3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40" y="6263640"/>
            <a:ext cx="1051560" cy="502920"/>
          </a:xfrm>
          <a:prstGeom prst="rect">
            <a:avLst/>
          </a:prstGeom>
        </p:spPr>
      </p:pic>
      <p:pic>
        <p:nvPicPr>
          <p:cNvPr id="8" name="Picture 7" descr="rainroute_circuit_schemat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011680"/>
            <a:ext cx="6583680" cy="41148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98079" y="2011680"/>
            <a:ext cx="3962095" cy="41148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spcAft>
                <a:spcPts val="400"/>
              </a:spcAft>
              <a:defRPr sz="1100" b="1">
                <a:solidFill>
                  <a:srgbClr val="0F2341"/>
                </a:solidFill>
              </a:defRPr>
            </a:pPr>
            <a:r>
              <a:t>Circuit Integrity &amp; Signal Conditioning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1. 5V-to-3.3V Voltage Divider: 1kΩ / 2kΩ precision resistor network safely scales the JSN-SR04T 5V ECHO pulse down to 3.3V, preventing ESP32 GPIO burn.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2. Hardware I2C Interface: MPU-6050 connected to GPIO 21 (SDA) and GPIO 22 (SCL) with onboard 4.7kΩ pull-up resistors.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3. High-Speed SPI Bus: MicroSD breakout module wired to GPIO 12 (MISO), GPIO 13 (MOSI), GPIO 14 (SCK), and GPIO 15 (CS).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4. Power Management Rails: Dedicated 5V VBUS rail powering JSN-SR04T; 3.3V LDO rail powering MCU, IMU, and SD board.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5. Decoupling Capacitors: 100nF ceramic + 10µF electrolytic capacitors filter power transient noise during Wi-Fi transmission spikes.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fficial_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686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960120"/>
            <a:ext cx="4114800" cy="3200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7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277BD"/>
                </a:solidFill>
              </a:defRPr>
            </a:pPr>
            <a:r>
              <a:t>ELECTRONICS SCHEMATICS &amp; BOM (1-2 SLIDES)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932688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F2341"/>
                </a:solidFill>
              </a:defRPr>
            </a:pPr>
            <a:r>
              <a:t>APP ID: VK26-IITH-SC-0552 | TRACK: SUSTAINABLE CITIES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2341"/>
                </a:solidFill>
              </a:defRPr>
            </a:pPr>
            <a:r>
              <a:t>Itemized Prototype Bill of Materials (BOM) &amp; Costing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Domestic Indian Sourcing, Component Lead Times &amp; Subsystem Cost (₹2,275)</a:t>
            </a:r>
          </a:p>
        </p:txBody>
      </p:sp>
      <p:pic>
        <p:nvPicPr>
          <p:cNvPr id="6" name="Picture 5" descr="slide_4_img_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63640"/>
            <a:ext cx="1645920" cy="502920"/>
          </a:xfrm>
          <a:prstGeom prst="rect">
            <a:avLst/>
          </a:prstGeom>
        </p:spPr>
      </p:pic>
      <p:pic>
        <p:nvPicPr>
          <p:cNvPr id="7" name="Picture 6" descr="slide_4_img_3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40" y="6263640"/>
            <a:ext cx="1051560" cy="50292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2011680"/>
          <a:ext cx="1072865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00400"/>
                <a:gridCol w="1097280"/>
                <a:gridCol w="2103120"/>
                <a:gridCol w="2041855"/>
              </a:tblGrid>
              <a:tr h="4114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Part / Specification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Qty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Lead Time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Cost (INR)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Microcontroller Mainboard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ESP32-WROOM-32D Development 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Local (2 days)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₹520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Water Level Sensor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JSN-SR04T 2.0 Waterproof Ultrasonic Transducer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Local (2 days)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₹380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Motion IMU Sensor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MPU-6050 6-Axis Gyro/Accelerometer Breakout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Local (2 days)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₹160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Solar Harvesting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5V 500mA (2.5W) Monocrystalline Solar Panel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Domestic (3 days)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₹280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Battery 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18650 3.7V 2600 mAh Li-ion Rechargeable Cell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Local (1 day)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₹190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Charging Controller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TP4056 CC/CV Charger Board with DW01 Protection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Local (2 days)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₹45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Edge Data Retention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MicroSD SPI Adapter Module + 16GB SanDisk Card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Local (1 day)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₹320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Enclosure &amp; Hardware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IP65 ABS Junction Box, Glands, Wires, Resistors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1 Set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Local (2 days)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₹380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2341"/>
                          </a:solidFill>
                        </a:defRPr>
                      </a:pPr>
                      <a:r>
                        <a:t>Total Build Expense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2341"/>
                          </a:solidFill>
                        </a:defRPr>
                      </a:pPr>
                      <a:r>
                        <a:t>Complete Autonomous Solar Sensing Node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2341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2341"/>
                          </a:solidFill>
                        </a:defRPr>
                      </a:pPr>
                      <a:r>
                        <a:t>Max 3 Days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2341"/>
                          </a:solidFill>
                        </a:defRPr>
                      </a:pPr>
                      <a:r>
                        <a:t>₹2,275</a:t>
                      </a:r>
                    </a:p>
                  </a:txBody>
                  <a:tcPr>
                    <a:solidFill>
                      <a:srgbClr val="E0F2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fficial_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686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960120"/>
            <a:ext cx="4114800" cy="3200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7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277BD"/>
                </a:solidFill>
              </a:defRPr>
            </a:pPr>
            <a:r>
              <a:t>YOUR MAKER JOURNEY (1-2 SLIDES)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932688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F2341"/>
                </a:solidFill>
              </a:defRPr>
            </a:pPr>
            <a:r>
              <a:t>APP ID: VK26-IITH-SC-0552 | TRACK: SUSTAINABLE CITIES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2341"/>
                </a:solidFill>
              </a:defRPr>
            </a:pPr>
            <a:r>
              <a:t>Proof of Personal Fabrication &amp; Lab Authenticity Verification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Vardhaman College Maker Lab Progress &amp; Faculty Mentorship</a:t>
            </a:r>
          </a:p>
        </p:txBody>
      </p:sp>
      <p:pic>
        <p:nvPicPr>
          <p:cNvPr id="6" name="Picture 5" descr="slide_4_img_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63640"/>
            <a:ext cx="1645920" cy="502920"/>
          </a:xfrm>
          <a:prstGeom prst="rect">
            <a:avLst/>
          </a:prstGeom>
        </p:spPr>
      </p:pic>
      <p:pic>
        <p:nvPicPr>
          <p:cNvPr id="7" name="Picture 6" descr="slide_4_img_3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40" y="6263640"/>
            <a:ext cx="105156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2011680"/>
            <a:ext cx="5212080" cy="41148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spcAft>
                <a:spcPts val="400"/>
              </a:spcAft>
              <a:defRPr sz="1100" b="1">
                <a:solidFill>
                  <a:srgbClr val="0F2341"/>
                </a:solidFill>
              </a:defRPr>
            </a:pPr>
            <a:r>
              <a:t>Institutional Lab Sign-Off &amp; Verification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Institutional Endorsement: Work conceptualized, fabricated, and audited under the mentorship of Prof. Sowmya M (Dept. of CSE), Vardhaman College of Engineering, Hyderabad.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Student Team Roster (Mandatory ID Badges):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  - Mukkara Padma Teja (Team Lead, CSE — 26881A05V7)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  - Reddyshetti Astrija (CSE — 26881A05T3)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  - Mavillapalli Akhil Rao (CSD — 26881A6768)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  - Kanugula Srinidhi (CSE — 26881A05X5)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  - Molugu Aashritha (CSE — 26881A05R9)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[Team Photo Frame Placeholder]: High-resolution lab photos of team members actively soldering ESP32 carrier board and calibrating water tank while wearing institutional ID badges.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212080" cy="41148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spcAft>
                <a:spcPts val="400"/>
              </a:spcAft>
              <a:defRPr sz="1100" b="1">
                <a:solidFill>
                  <a:srgbClr val="0F2341"/>
                </a:solidFill>
              </a:defRPr>
            </a:pPr>
            <a:r>
              <a:t>Work-In-Progress Software Evidence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CAD Software Evidence: SolidWorks 2024 active parametric feature tree with unsuppressed sketches and 45° acoustic drip collimator geometry.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EDA Software Evidence: KiCad v8 schematic layout with zero DRC (Design Rule Check) error logs; completed trace routing for SPI and I2C buses.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DSP Algorithm Evidence: Moving-median filter C++ source code rejecting transient noise spikes in simulated water column tests.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Faculty Review Photo: Joint project audit with Faculty Mentor Prof. Sowmya M reviewing telemetry latency logs.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fficial_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686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960120"/>
            <a:ext cx="4114800" cy="3200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7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277BD"/>
                </a:solidFill>
              </a:defRPr>
            </a:pPr>
            <a:r>
              <a:t>YOUR MAKER JOURNEY (1-2 SLIDES)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932688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F2341"/>
                </a:solidFill>
              </a:defRPr>
            </a:pPr>
            <a:r>
              <a:t>APP ID: VK26-IITH-SC-0552 | TRACK: SUSTAINABLE CITIES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2341"/>
                </a:solidFill>
              </a:defRPr>
            </a:pPr>
            <a:r>
              <a:t>Engineering Iterations &amp; Verified Cloud Repository Audit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Stage 1 to Stage 2 Evolution &amp; Timestamped Native File Audit</a:t>
            </a:r>
          </a:p>
        </p:txBody>
      </p:sp>
      <p:pic>
        <p:nvPicPr>
          <p:cNvPr id="6" name="Picture 5" descr="slide_4_img_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63640"/>
            <a:ext cx="1645920" cy="502920"/>
          </a:xfrm>
          <a:prstGeom prst="rect">
            <a:avLst/>
          </a:prstGeom>
        </p:spPr>
      </p:pic>
      <p:pic>
        <p:nvPicPr>
          <p:cNvPr id="7" name="Picture 6" descr="slide_4_img_3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40" y="6263640"/>
            <a:ext cx="105156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2011680"/>
            <a:ext cx="5212080" cy="41148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spcAft>
                <a:spcPts val="400"/>
              </a:spcAft>
              <a:defRPr sz="1100" b="1">
                <a:solidFill>
                  <a:srgbClr val="0F2341"/>
                </a:solidFill>
              </a:defRPr>
            </a:pPr>
            <a:r>
              <a:t>Stage 1 to Stage 2 Engineering Iterations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Iteration 1 (Sensing Transducer): Replaced standard open HC-SR04 sensors after moisture condensation corrupted echo pulses; upgraded to IP67-rated JSN-SR04T sealed transducer.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Iteration 2 (Multi-Hazard Evolution): Added MPU-6050 6-DOF IMU under manhole grates, transforming a simple water gauge into a critical public life-safety network.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Iteration 3 (Edge Resilience): Integrated onboard SPI MicroSD caching after discovering severe cellular throughput drops during simulated heavy monsoon rainfall.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Iteration 4 (Noise Rejection): Developed a 10-sample moving-median filter in firmware, successfully eliminating false water alerts caused by passing vehicle water splashes.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212080" cy="411480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spcAft>
                <a:spcPts val="400"/>
              </a:spcAft>
              <a:defRPr sz="1100" b="1">
                <a:solidFill>
                  <a:srgbClr val="0F2341"/>
                </a:solidFill>
              </a:defRPr>
            </a:pPr>
            <a:r>
              <a:t>Verified Public Audit Drive Repository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Public Repository Link: drive.google.com/open?id=1xYc14qQf8iTZ1oM2QQG4lK8oh9giOfnX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Audited Repository Contents: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  • 3D CAD Native Files: rainroute_ip65_enclosure.stl &amp; rainroute_manhole_pod.stl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  • Firmware Source Code: ESP32 C++/Arduino firmware with median filtering and deep-sleep state machine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  • Circuit Schematics: KiCad v8 schematics, pinout netlist, and power distribution diagrams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  • Itemized BOM: Complete Excel costing sheet with domestic vendor lead times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Timestamp Verification: All file creation timestamps audited to confirm continuous development progress during Stage 2.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fficial_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686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960120"/>
            <a:ext cx="4114800" cy="3200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7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277BD"/>
                </a:solidFill>
              </a:defRPr>
            </a:pPr>
            <a:r>
              <a:t>SAFETY &amp; HAZARD MITIGATION (1 SLIDE)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932688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F2341"/>
                </a:solidFill>
              </a:defRPr>
            </a:pPr>
            <a:r>
              <a:t>APP ID: VK26-IITH-SC-0552 | TRACK: SUSTAINABLE CITIES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2341"/>
                </a:solidFill>
              </a:defRPr>
            </a:pPr>
            <a:r>
              <a:t>Safety by Design &amp; Engineering Standards Compliance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Physical Fail-Safes, Electrical Protection &amp; Industrial Ingress Ratings</a:t>
            </a:r>
          </a:p>
        </p:txBody>
      </p:sp>
      <p:pic>
        <p:nvPicPr>
          <p:cNvPr id="6" name="Picture 5" descr="slide_4_img_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63640"/>
            <a:ext cx="1645920" cy="502920"/>
          </a:xfrm>
          <a:prstGeom prst="rect">
            <a:avLst/>
          </a:prstGeom>
        </p:spPr>
      </p:pic>
      <p:pic>
        <p:nvPicPr>
          <p:cNvPr id="7" name="Picture 6" descr="slide_4_img_3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40" y="6263640"/>
            <a:ext cx="105156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2011680"/>
            <a:ext cx="5212080" cy="41148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spcAft>
                <a:spcPts val="400"/>
              </a:spcAft>
              <a:defRPr sz="1100" b="1">
                <a:solidFill>
                  <a:srgbClr val="0F2341"/>
                </a:solidFill>
              </a:defRPr>
            </a:pPr>
            <a:r>
              <a:t>Physical Fail-Safes &amp; Electrical Protection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Intrinsically Safe Low-Voltage (&lt;5V DC): Operates purely on low-voltage DC, completely eliminating electrocution hazards in submerged roadside gutters.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Battery Thermal Isolation: TP4056 charging circuit paired with DW01 IC and NTC thermistor cuts charging contactor if cell temperature exceeds 45°C.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TVS Surge Protection: Transient Voltage Suppressors on exposed sensor probe wires arrest electro-static discharges during thunderstorm lightning strikes.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Submersion Immunity: Core processing electronics mounted at 3.2m pole height, completely safe from even 100-year catastrophic urban flood surges.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Mechanical Redundancy: Manhole puck secured via dual N52 neodymium magnets and high-tensile safety steel tether wire.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212080" cy="41148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spcAft>
                <a:spcPts val="400"/>
              </a:spcAft>
              <a:defRPr sz="1100" b="1">
                <a:solidFill>
                  <a:srgbClr val="0F2341"/>
                </a:solidFill>
              </a:defRPr>
            </a:pPr>
            <a:r>
              <a:t>Industry Standards &amp; Compliance Framework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IEC 60529 (IP67 / IP65 Ingress): Ultrasonic transducer rated for continuous submersion; ASA enclosure tested against high-pressure water spray.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IEEE 802.11 b/g/n Standards: Complies with wireless emissions guidelines on standard 2.4 GHz ISM bands.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ISO 26262 Advisory Guidelines: Rerouting recommendations delivered as travel advisories to eliminate navigation liability.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UL94-V0 Fire Retardancy: Enclosure 3D printed with flame-retardant ASA/ABS polymer to withstand intense summer sunlight.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RoHS Lead-Free Compliance: All selected carrier modules follow international environmental lead-free manufacturing mandates.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fficial_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686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960120"/>
            <a:ext cx="4114800" cy="3200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7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277BD"/>
                </a:solidFill>
              </a:defRPr>
            </a:pPr>
            <a:r>
              <a:t>SAFETY &amp; HAZARD MITIGATION (1 SLIDE)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932688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F2341"/>
                </a:solidFill>
              </a:defRPr>
            </a:pPr>
            <a:r>
              <a:t>APP ID: VK26-IITH-SC-0552 | TRACK: SUSTAINABLE CITIES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2341"/>
                </a:solidFill>
              </a:defRPr>
            </a:pPr>
            <a:r>
              <a:t>Design FMEA (Failure Mode and Effects Analysis)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Comprehensive Hazard Identification &amp; Firmware Fail-Safe Response</a:t>
            </a:r>
          </a:p>
        </p:txBody>
      </p:sp>
      <p:pic>
        <p:nvPicPr>
          <p:cNvPr id="6" name="Picture 5" descr="slide_4_img_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63640"/>
            <a:ext cx="1645920" cy="502920"/>
          </a:xfrm>
          <a:prstGeom prst="rect">
            <a:avLst/>
          </a:prstGeom>
        </p:spPr>
      </p:pic>
      <p:pic>
        <p:nvPicPr>
          <p:cNvPr id="7" name="Picture 6" descr="slide_4_img_3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40" y="6263640"/>
            <a:ext cx="1051560" cy="50292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2011680"/>
          <a:ext cx="1072865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560320"/>
                <a:gridCol w="1097280"/>
                <a:gridCol w="5059375"/>
              </a:tblGrid>
              <a:tr h="82296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Failure Mode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Potential Hazard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Embedded Fail-Safe / Mitigation Response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Vehicle Tyre Water Spray (Jury Pro-Tip)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False flood alarm triggered by passing bus/truck splash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Dual Defense: 2.5m elevation over gutter + 10-sample moving-median firmware filter requiring 5 consecutive consistent states.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Prolonged Monsoon Overcast (5+ Days)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Battery depletion &amp; node brownout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Dynamic Energy Throttling: When cell voltage drops &lt;3.4V, ESP32 scales from 10s active ping to 5-min deep sleep, extending autonomous runtime to 12 days.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Cellular / Wi-Fi Network Drop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Loss of real-time telemetry during intense storm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SPI MicroSD FIFO Buffer: Automatically logs timestamped readings locally; auto-syncs historical queue to Firestore once handshake re-establishes.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Heavy Traffic Road Vibration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False open manhole alarms from heavy truck rumble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Digital Low-Pass Filter: Firmware requires sustained angular tilt &gt;12° for &gt;1.5s; 5mm neoprene buffer attenuates 10-50Hz vehicle chatter.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fficial_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686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960120"/>
            <a:ext cx="4114800" cy="3200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7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277BD"/>
                </a:solidFill>
              </a:defRPr>
            </a:pPr>
            <a:r>
              <a:t>ROADMAP (1 SLIDE)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932688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F2341"/>
                </a:solidFill>
              </a:defRPr>
            </a:pPr>
            <a:r>
              <a:t>APP ID: VK26-IITH-SC-0552 | TRACK: SUSTAINABLE CITIES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2341"/>
                </a:solidFill>
              </a:defRPr>
            </a:pPr>
            <a:r>
              <a:t>4-Month Engineering Fabrication Plan &amp; Stage 3 Commitment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Structured Milestones Leading to Live Roadside Demonstration</a:t>
            </a:r>
          </a:p>
        </p:txBody>
      </p:sp>
      <p:pic>
        <p:nvPicPr>
          <p:cNvPr id="6" name="Picture 5" descr="slide_4_img_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63640"/>
            <a:ext cx="1645920" cy="502920"/>
          </a:xfrm>
          <a:prstGeom prst="rect">
            <a:avLst/>
          </a:prstGeom>
        </p:spPr>
      </p:pic>
      <p:pic>
        <p:nvPicPr>
          <p:cNvPr id="7" name="Picture 6" descr="slide_4_img_3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40" y="6263640"/>
            <a:ext cx="105156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2011680"/>
            <a:ext cx="2560320" cy="4114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7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2341"/>
                </a:solidFill>
              </a:defRPr>
            </a:pPr>
            <a:r>
              <a:t>Month 1: Nov 2026</a:t>
            </a:r>
          </a:p>
          <a:p>
            <a:pPr>
              <a:spcAft>
                <a:spcPts val="800"/>
              </a:spcAft>
              <a:defRPr sz="900" b="1">
                <a:solidFill>
                  <a:srgbClr val="0277BD"/>
                </a:solidFill>
              </a:defRPr>
            </a:pPr>
            <a:r>
              <a:t>Bench Prototyping &amp; Sensor DSP</a:t>
            </a:r>
          </a:p>
          <a:p>
            <a:pPr>
              <a:spcAft>
                <a:spcPts val="400"/>
              </a:spcAft>
              <a:defRPr sz="850">
                <a:solidFill>
                  <a:srgbClr val="1E293B"/>
                </a:solidFill>
              </a:defRPr>
            </a:pPr>
            <a:r>
              <a:t>• PCB etching and component soldering at Vardhaman maker lab.</a:t>
            </a:r>
          </a:p>
          <a:p>
            <a:pPr>
              <a:spcAft>
                <a:spcPts val="400"/>
              </a:spcAft>
              <a:defRPr sz="850">
                <a:solidFill>
                  <a:srgbClr val="1E293B"/>
                </a:solidFill>
              </a:defRPr>
            </a:pPr>
            <a:r>
              <a:t>• JSN-SR04T calibration in controlled vertical water column.</a:t>
            </a:r>
          </a:p>
          <a:p>
            <a:pPr>
              <a:spcAft>
                <a:spcPts val="400"/>
              </a:spcAft>
              <a:defRPr sz="850">
                <a:solidFill>
                  <a:srgbClr val="1E293B"/>
                </a:solidFill>
              </a:defRPr>
            </a:pPr>
            <a:r>
              <a:t>• Implementation of moving-median noise filtering in C++.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2011680"/>
            <a:ext cx="2560320" cy="4114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7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2341"/>
                </a:solidFill>
              </a:defRPr>
            </a:pPr>
            <a:r>
              <a:t>Month 2: Dec 2026</a:t>
            </a:r>
          </a:p>
          <a:p>
            <a:pPr>
              <a:spcAft>
                <a:spcPts val="800"/>
              </a:spcAft>
              <a:defRPr sz="900" b="1">
                <a:solidFill>
                  <a:srgbClr val="0277BD"/>
                </a:solidFill>
              </a:defRPr>
            </a:pPr>
            <a:r>
              <a:t>Mechanical Enclosure &amp; Solar Testing</a:t>
            </a:r>
          </a:p>
          <a:p>
            <a:pPr>
              <a:spcAft>
                <a:spcPts val="400"/>
              </a:spcAft>
              <a:defRPr sz="850">
                <a:solidFill>
                  <a:srgbClr val="1E293B"/>
                </a:solidFill>
              </a:defRPr>
            </a:pPr>
            <a:r>
              <a:t>• 3D printing ASA enclosure &amp; PETG carrier plate.</a:t>
            </a:r>
          </a:p>
          <a:p>
            <a:pPr>
              <a:spcAft>
                <a:spcPts val="400"/>
              </a:spcAft>
              <a:defRPr sz="850">
                <a:solidFill>
                  <a:srgbClr val="1E293B"/>
                </a:solidFill>
              </a:defRPr>
            </a:pPr>
            <a:r>
              <a:t>• Silicone O-ring gasket IP65 pressure seal validation.</a:t>
            </a:r>
          </a:p>
          <a:p>
            <a:pPr>
              <a:spcAft>
                <a:spcPts val="400"/>
              </a:spcAft>
              <a:defRPr sz="850">
                <a:solidFill>
                  <a:srgbClr val="1E293B"/>
                </a:solidFill>
              </a:defRPr>
            </a:pPr>
            <a:r>
              <a:t>• TP4056 solar charge cycle &amp; battery thermal testing.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2011680"/>
            <a:ext cx="2560320" cy="4114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7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2341"/>
                </a:solidFill>
              </a:defRPr>
            </a:pPr>
            <a:r>
              <a:t>Month 3: Jan 2027</a:t>
            </a:r>
          </a:p>
          <a:p>
            <a:pPr>
              <a:spcAft>
                <a:spcPts val="800"/>
              </a:spcAft>
              <a:defRPr sz="900" b="1">
                <a:solidFill>
                  <a:srgbClr val="0277BD"/>
                </a:solidFill>
              </a:defRPr>
            </a:pPr>
            <a:r>
              <a:t>Cloud &amp; App Full Integration</a:t>
            </a:r>
          </a:p>
          <a:p>
            <a:pPr>
              <a:spcAft>
                <a:spcPts val="400"/>
              </a:spcAft>
              <a:defRPr sz="850">
                <a:solidFill>
                  <a:srgbClr val="1E293B"/>
                </a:solidFill>
              </a:defRPr>
            </a:pPr>
            <a:r>
              <a:t>• Flutter mobile app integration with Firestore real-time streams.</a:t>
            </a:r>
          </a:p>
          <a:p>
            <a:pPr>
              <a:spcAft>
                <a:spcPts val="400"/>
              </a:spcAft>
              <a:defRPr sz="850">
                <a:solidFill>
                  <a:srgbClr val="1E293B"/>
                </a:solidFill>
              </a:defRPr>
            </a:pPr>
            <a:r>
              <a:t>• 72-hour continuous simulated rain and spray stress test.</a:t>
            </a:r>
          </a:p>
          <a:p>
            <a:pPr>
              <a:spcAft>
                <a:spcPts val="400"/>
              </a:spcAft>
              <a:defRPr sz="850">
                <a:solidFill>
                  <a:srgbClr val="1E293B"/>
                </a:solidFill>
              </a:defRPr>
            </a:pPr>
            <a:r>
              <a:t>• BLE beaconing range testing across 100m road radius.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2011680"/>
            <a:ext cx="2560320" cy="4114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7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2341"/>
                </a:solidFill>
              </a:defRPr>
            </a:pPr>
            <a:r>
              <a:t>Month 4: Feb 2027</a:t>
            </a:r>
          </a:p>
          <a:p>
            <a:pPr>
              <a:spcAft>
                <a:spcPts val="800"/>
              </a:spcAft>
              <a:defRPr sz="900" b="1">
                <a:solidFill>
                  <a:srgbClr val="0277BD"/>
                </a:solidFill>
              </a:defRPr>
            </a:pPr>
            <a:r>
              <a:t>Stage 3 Live Field Demonstration</a:t>
            </a:r>
          </a:p>
          <a:p>
            <a:pPr>
              <a:spcAft>
                <a:spcPts val="400"/>
              </a:spcAft>
              <a:defRPr sz="850">
                <a:solidFill>
                  <a:srgbClr val="1E293B"/>
                </a:solidFill>
              </a:defRPr>
            </a:pPr>
            <a:r>
              <a:t>• Deployment on campus storm-drain underpass testbed.</a:t>
            </a:r>
          </a:p>
          <a:p>
            <a:pPr>
              <a:spcAft>
                <a:spcPts val="400"/>
              </a:spcAft>
              <a:defRPr sz="850">
                <a:solidFill>
                  <a:srgbClr val="1E293B"/>
                </a:solidFill>
              </a:defRPr>
            </a:pPr>
            <a:r>
              <a:t>• Benchmarking end-to-end alert broadcast latency (&lt;10s).</a:t>
            </a:r>
          </a:p>
          <a:p>
            <a:pPr>
              <a:spcAft>
                <a:spcPts val="400"/>
              </a:spcAft>
              <a:defRPr sz="850">
                <a:solidFill>
                  <a:srgbClr val="1E293B"/>
                </a:solidFill>
              </a:defRPr>
            </a:pPr>
            <a:r>
              <a:t>• Functional hardware prototype ready for Stage 3 jury audit.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fficial_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686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960120"/>
            <a:ext cx="4114800" cy="3200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7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277BD"/>
                </a:solidFill>
              </a:defRPr>
            </a:pPr>
            <a:r>
              <a:t>TECHNICAL CHALLENGES &amp; RISKS (1 SLIDE)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932688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F2341"/>
                </a:solidFill>
              </a:defRPr>
            </a:pPr>
            <a:r>
              <a:t>APP ID: VK26-IITH-SC-0552 | TRACK: SUSTAINABLE CITIES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2341"/>
                </a:solidFill>
              </a:defRPr>
            </a:pPr>
            <a:r>
              <a:t>Engineering Bottlenecks &amp; Empirically Validated Solutions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Resolving Physical Constraints &amp; Real-World Operating Hazards</a:t>
            </a:r>
          </a:p>
        </p:txBody>
      </p:sp>
      <p:pic>
        <p:nvPicPr>
          <p:cNvPr id="6" name="Picture 5" descr="slide_4_img_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63640"/>
            <a:ext cx="1645920" cy="502920"/>
          </a:xfrm>
          <a:prstGeom prst="rect">
            <a:avLst/>
          </a:prstGeom>
        </p:spPr>
      </p:pic>
      <p:pic>
        <p:nvPicPr>
          <p:cNvPr id="7" name="Picture 6" descr="slide_4_img_3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40" y="6263640"/>
            <a:ext cx="105156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2011680"/>
            <a:ext cx="5212080" cy="411480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spcAft>
                <a:spcPts val="400"/>
              </a:spcAft>
              <a:defRPr sz="1100" b="1">
                <a:solidFill>
                  <a:srgbClr val="0F2341"/>
                </a:solidFill>
              </a:defRPr>
            </a:pPr>
            <a:r>
              <a:t>Observed Engineering Bottlenecks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Bottleneck 1: Ultrasonic Blind Zone (20cm Deadband):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  - Risk: When water rises within 20cm of transducer, echo returns before receiver resets, creating false infinite readings.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Bottleneck 2: Passing Truck Water Spray Artifacts (Jury Pro-Tip):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  - Risk: Heavy vehicles speeding through water curtains create transient acoustic reflection spikes mimicking instant flood surges.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Bottleneck 3: Manhole Road Vibration Noise: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  - Risk: Constant heavy transit buses rumbling over cast-iron covers generate high-G shocks causing false open-cover alerts.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Bottleneck 4: Storm Runoff Condensation on Transducer: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  - Risk: High humidity beads water droplets across sensor face, corrupting acoustic pulse propagation.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212080" cy="411480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spcAft>
                <a:spcPts val="400"/>
              </a:spcAft>
              <a:defRPr sz="1100" b="1">
                <a:solidFill>
                  <a:srgbClr val="0F2341"/>
                </a:solidFill>
              </a:defRPr>
            </a:pPr>
            <a:r>
              <a:t>Potential Solutions &amp; Risk Mitigation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Mitigation 1 (Blind Zone Offset):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  - Enclosure mounted on a 25cm elevated cantilever standpipe; firmware clamps any echo &lt;20cm as 'Critical Emergency Overtopping'.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Mitigation 2 (Moving-Median Spike Filter):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  - Firmware buffer sorts last 10 ultrasonic pulses, stripping highest and lowest outliers; requires 5 consecutive consistent states.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Mitigation 3 (Vibration Damping &amp; Angular Persistence):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  - 5mm neoprene dampening pad absorbs 10-50Hz vibration; firmware demands tilt angle &gt;12° persisting for &gt;1.5 seconds.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Mitigation 4 (45° Incline Drip Collimator):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  - Recessed acoustic collimator shield angled at 45° sheds raindrops naturally via gravity, preventing droplet build-up.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fficial_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686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960120"/>
            <a:ext cx="4114800" cy="3200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7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277BD"/>
                </a:solidFill>
              </a:defRPr>
            </a:pPr>
            <a:r>
              <a:t>POTENTIAL SOLUTIONS &amp; RISK MITIGATION (1 SLIDE)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932688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F2341"/>
                </a:solidFill>
              </a:defRPr>
            </a:pPr>
            <a:r>
              <a:t>APP ID: VK26-IITH-SC-0552 | TRACK: SUSTAINABLE CITIES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2341"/>
                </a:solidFill>
              </a:defRPr>
            </a:pPr>
            <a:r>
              <a:t>Digital Signal Processing &amp; Algorithmic Resilience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Moving-Median Outlier Rejection &amp; Cloud Predictive AI Architecture</a:t>
            </a:r>
          </a:p>
        </p:txBody>
      </p:sp>
      <p:pic>
        <p:nvPicPr>
          <p:cNvPr id="6" name="Picture 5" descr="slide_4_img_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63640"/>
            <a:ext cx="1645920" cy="502920"/>
          </a:xfrm>
          <a:prstGeom prst="rect">
            <a:avLst/>
          </a:prstGeom>
        </p:spPr>
      </p:pic>
      <p:pic>
        <p:nvPicPr>
          <p:cNvPr id="7" name="Picture 6" descr="slide_4_img_3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40" y="6263640"/>
            <a:ext cx="105156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2011680"/>
            <a:ext cx="5212080" cy="41148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spcAft>
                <a:spcPts val="400"/>
              </a:spcAft>
              <a:defRPr sz="1100" b="1">
                <a:solidFill>
                  <a:srgbClr val="0F2341"/>
                </a:solidFill>
              </a:defRPr>
            </a:pPr>
            <a:r>
              <a:t>Firmware Moving-Median Spike Filter Logic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Algorithm Architecture: Implements a 10-sample rolling ring-buffer sampling at 50 Hz.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Outlier Stripping: Automatically discards the top 2 highest and bottom 2 lowest readings, eliminating spray curtain artifacts.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State Transition Persistence: Requires 5 consecutive consistent depth measurements before updating hazard classification from Safe to Caution or Divert.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Result: 96% reduction in transient false alarm spikes in empirical laboratory water splash testbed.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212080" cy="41148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spcAft>
                <a:spcPts val="400"/>
              </a:spcAft>
              <a:defRPr sz="1100" b="1">
                <a:solidFill>
                  <a:srgbClr val="0F2341"/>
                </a:solidFill>
              </a:defRPr>
            </a:pPr>
            <a:r>
              <a:t>Cloud Predictive AI &amp; Fallback Networks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BigQuery ML Predictive Modeling: Archives timestamped depth curves alongside local rainfall intensity vectors.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Flash Flood Pre-Warning: Machine learning model predicts underpass inundation 20 to 30 minutes in advance based on storm runoff velocity.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Modular Cellular / LoRa Drop-In: Carrier PCB features standardized pin headers allowing drop-in connection of SIM7600 4G LTE or SX1262 LoRaWAN modules for remote unnetworked highways.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fficial_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686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960120"/>
            <a:ext cx="4114800" cy="3200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7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277BD"/>
                </a:solidFill>
              </a:defRPr>
            </a:pPr>
            <a:r>
              <a:t>REFERENCES &amp; SOURCES (1 SLIDE)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932688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F2341"/>
                </a:solidFill>
              </a:defRPr>
            </a:pPr>
            <a:r>
              <a:t>APP ID: VK26-IITH-SC-0552 | TRACK: SUSTAINABLE CITIES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2341"/>
                </a:solidFill>
              </a:defRPr>
            </a:pPr>
            <a:r>
              <a:t>Engineering References, Technical Standards &amp; Datasheets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Complete Documentation &amp; Literature Citation</a:t>
            </a:r>
          </a:p>
        </p:txBody>
      </p:sp>
      <p:pic>
        <p:nvPicPr>
          <p:cNvPr id="6" name="Picture 5" descr="slide_4_img_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63640"/>
            <a:ext cx="1645920" cy="502920"/>
          </a:xfrm>
          <a:prstGeom prst="rect">
            <a:avLst/>
          </a:prstGeom>
        </p:spPr>
      </p:pic>
      <p:pic>
        <p:nvPicPr>
          <p:cNvPr id="7" name="Picture 6" descr="slide_4_img_3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40" y="6263640"/>
            <a:ext cx="105156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2011680"/>
            <a:ext cx="5212080" cy="41148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spcAft>
                <a:spcPts val="400"/>
              </a:spcAft>
              <a:defRPr sz="1100" b="1">
                <a:solidFill>
                  <a:srgbClr val="0F2341"/>
                </a:solidFill>
              </a:defRPr>
            </a:pPr>
            <a:r>
              <a:t>Hardware Datasheets &amp; Technical Literature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Espressif Systems: ESP32-WROOM-32D Technical Reference Manual v4.2 (Dual-core Xtensa architecture &amp; low-power sleep modes).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InvenSense Inc.: MPU-6050 Six-Axis MotionTracking Device Specification (I2C registers, accelerometer scale &amp; on-chip thermal registers).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JSN-SR04T Specification: Waterproof Ultrasonic Ranging Module V2.0 (Transducer acoustic beam angle &amp; timing diagrams).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Texas Instruments / NanJing: TP4056 1A Standalone Linear Li-ion Battery Charger Data Sheet (DW01 battery safety contactor).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SanDisk Corporation: SD Specifications Part 1 Physical Layer Simplified Specification v6.00 (SPI bus interface).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212080" cy="41148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spcAft>
                <a:spcPts val="400"/>
              </a:spcAft>
              <a:defRPr sz="1100" b="1">
                <a:solidFill>
                  <a:srgbClr val="0F2341"/>
                </a:solidFill>
              </a:defRPr>
            </a:pPr>
            <a:r>
              <a:t>Industry Standards &amp; Urban Flood Guidelines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IEC 60529: Degrees of Protection Provided by Enclosures (IP Code) - Tested for IP65/IP67 compliance.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SAE J1739: Potential Failure Mode and Effects Analysis in Design (DFMEA Methodology).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ISO 26262 Road Vehicles Functional Safety: Guidelines on automotive advisory risk classification.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National Disaster Management Authority (NDMA) India: Standard Operating Procedures for Urban Flooding &amp; Drainage Management.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Maker Bhavan Foundation: Vishwakarma Awards 2026-27 Stage 2 Submission Template &amp; Engineering Exemplar.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fficial_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686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960120"/>
            <a:ext cx="4114800" cy="3200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7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277BD"/>
                </a:solidFill>
              </a:defRPr>
            </a:pPr>
            <a:r>
              <a:t>WINNING INNOVATION 1 (DEEP DIVE)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932688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F2341"/>
                </a:solidFill>
              </a:defRPr>
            </a:pPr>
            <a:r>
              <a:t>APP ID: VK26-IITH-SC-0552 | TRACK: SUSTAINABLE CITIES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2341"/>
                </a:solidFill>
              </a:defRPr>
            </a:pPr>
            <a:r>
              <a:t>Dynamic Vehicle-Specific Hydrolock Clearance Engine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Stratified Risk Thresholds for Micro-Mobility vs. Public Transit</a:t>
            </a:r>
          </a:p>
        </p:txBody>
      </p:sp>
      <p:pic>
        <p:nvPicPr>
          <p:cNvPr id="6" name="Picture 5" descr="slide_4_img_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63640"/>
            <a:ext cx="1645920" cy="502920"/>
          </a:xfrm>
          <a:prstGeom prst="rect">
            <a:avLst/>
          </a:prstGeom>
        </p:spPr>
      </p:pic>
      <p:pic>
        <p:nvPicPr>
          <p:cNvPr id="7" name="Picture 6" descr="slide_4_img_3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40" y="6263640"/>
            <a:ext cx="105156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2011680"/>
            <a:ext cx="5212080" cy="41148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spcAft>
                <a:spcPts val="400"/>
              </a:spcAft>
              <a:defRPr sz="1100" b="1">
                <a:solidFill>
                  <a:srgbClr val="0F2341"/>
                </a:solidFill>
              </a:defRPr>
            </a:pPr>
            <a:r>
              <a:t>The Core Micro-Mobility Flaw in Existing Apps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Generic Flood Alerts Are Useless: Standard flood alerts say 'Waterlogged'. But 150mm of water is completely safe for a city transit bus, yet fatal for an Activa or EV scooter.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Two-Wheeler Exhaust Submersion: In typical scooters, exhaust ports are positioned 140-180mm above ground. Backpressure forces water into engine cylinders, causing instant hydrolock.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Electric Two-Wheeler Short-Circuit: Low-slung BLDC hub motors and battery enclosures suffer water ingress above 150mm, triggering expensive thermal cutouts.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Public Transit Gridlock: Halting all traffic because of ankle-deep water paralyzes entire city bus routes unnecessarily.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212080" cy="411480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spcAft>
                <a:spcPts val="400"/>
              </a:spcAft>
              <a:defRPr sz="1100" b="1">
                <a:solidFill>
                  <a:srgbClr val="0F2341"/>
                </a:solidFill>
              </a:defRPr>
            </a:pPr>
            <a:r>
              <a:t>The RainRoute Dynamic Clearance Matrix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Depth &lt;80 mm (ALL SAFE):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  - Green status for all vehicle categories (Two-wheelers, Autos, Buses).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Depth 80 – 180 mm (MICRO-MOBILITY DIVERSION):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  - 🔴 RED ALERT for Two-Wheelers: Rerouted to elevated flyovers immediately.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  - 🟢 GREEN STATUS for City Buses: Free flow maintained across public transit routes.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Depth 180 – 400 mm (CARS &amp; AUTOS CAUTION):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  - 🔴 RED ALERT for Sedans &amp; Auto-rickshaws; 🟡 YELLOW CAUTION for City Buses.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Depth &gt;400 mm (COMPLETE TRANSIT SHUTDOWN):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  - 🔴 RED ALERT for All Vehicles; automated webhook dispatches civic barrier gates.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fficial_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686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960120"/>
            <a:ext cx="4114800" cy="3200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7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277BD"/>
                </a:solidFill>
              </a:defRPr>
            </a:pPr>
            <a:r>
              <a:t>WINNING INNOVATION 2 (DEEP DIVE)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932688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F2341"/>
                </a:solidFill>
              </a:defRPr>
            </a:pPr>
            <a:r>
              <a:t>APP ID: VK26-IITH-SC-0552 | TRACK: SUSTAINABLE CITIES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2341"/>
                </a:solidFill>
              </a:defRPr>
            </a:pPr>
            <a:r>
              <a:t>Zero-Cloud Emergency BLE Mesh &amp; Physical Visual Light Battens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Guaranteed Warning Delivery During Extreme Cellular Grid Crashes</a:t>
            </a:r>
          </a:p>
        </p:txBody>
      </p:sp>
      <p:pic>
        <p:nvPicPr>
          <p:cNvPr id="6" name="Picture 5" descr="slide_4_img_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63640"/>
            <a:ext cx="1645920" cy="502920"/>
          </a:xfrm>
          <a:prstGeom prst="rect">
            <a:avLst/>
          </a:prstGeom>
        </p:spPr>
      </p:pic>
      <p:pic>
        <p:nvPicPr>
          <p:cNvPr id="7" name="Picture 6" descr="slide_4_img_3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40" y="6263640"/>
            <a:ext cx="105156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2011680"/>
            <a:ext cx="5212080" cy="41148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spcAft>
                <a:spcPts val="400"/>
              </a:spcAft>
              <a:defRPr sz="1100" b="1">
                <a:solidFill>
                  <a:srgbClr val="0F2341"/>
                </a:solidFill>
              </a:defRPr>
            </a:pPr>
            <a:r>
              <a:t>Offline BLE Geofencing (Zero-Internet Alert)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The Disaster Problem: Severe cloudburst storms frequently knock down cell towers, submerge fiber lines, or deplete commuter mobile data packs.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ESP32 Autonomous Beaconing: The roadside node broadcasts asynchronous Bluetooth Low Energy (BLE) Eddystone packets and Wi-Fi Direct beacons over a 100m radius.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Zero-Data Delivery: Any passing smartphone within 100m receives an emergency localized push notification without requiring cellular data, SIM signal, or cloud servers.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Broadcast SSID Beacon: Broadcasts open network name: '! WARNING: UNDERPASS FLOODED (0.7m) - DIVERT !' for instant visibility on driver phone screens.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212080" cy="41148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spcAft>
                <a:spcPts val="400"/>
              </a:spcAft>
              <a:defRPr sz="1100" b="1">
                <a:solidFill>
                  <a:srgbClr val="0F2341"/>
                </a:solidFill>
              </a:defRPr>
            </a:pPr>
            <a:r>
              <a:t>Physical High-Lumen Visual Warning Battens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The Night &amp; Rain Driving Barrier: Two-wheeler riders in heavy monsoon rain wearing raincoats cannot look at smartphone screens safely.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Roadside Visual Portal: High-intensity IP68 RGB LED warning battens mounted directly onto underpass entry pillars.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Dynamic Optical Signage: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  - Flashing Green: Underpass safe for all traffic.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  - Solid Amber: Safe for transit buses; two-wheelers must take flyover.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  - Flashing Red: Underpass closed to all vehicles; illuminated visible up to 250m away in heavy rain.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Grid Independence: Directly powered by node's 18650 battery buffer.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fficial_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686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960120"/>
            <a:ext cx="4114800" cy="3200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7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277BD"/>
                </a:solidFill>
              </a:defRPr>
            </a:pPr>
            <a:r>
              <a:t>WINNING INNOVATION 3 (DEEP DIVE)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932688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F2341"/>
                </a:solidFill>
              </a:defRPr>
            </a:pPr>
            <a:r>
              <a:t>APP ID: VK26-IITH-SC-0552 | TRACK: SUSTAINABLE CITIES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2341"/>
                </a:solidFill>
              </a:defRPr>
            </a:pPr>
            <a:r>
              <a:t>Hydrodynamic Rate-of-Rise (dD/dt) &amp; Manhole Geyser Anticipation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Predicting Flash Inundation Velocity Before Critical Depth is Reached</a:t>
            </a:r>
          </a:p>
        </p:txBody>
      </p:sp>
      <p:pic>
        <p:nvPicPr>
          <p:cNvPr id="6" name="Picture 5" descr="slide_4_img_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63640"/>
            <a:ext cx="1645920" cy="502920"/>
          </a:xfrm>
          <a:prstGeom prst="rect">
            <a:avLst/>
          </a:prstGeom>
        </p:spPr>
      </p:pic>
      <p:pic>
        <p:nvPicPr>
          <p:cNvPr id="7" name="Picture 6" descr="slide_4_img_3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40" y="6263640"/>
            <a:ext cx="105156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2011680"/>
            <a:ext cx="5212080" cy="41148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spcAft>
                <a:spcPts val="400"/>
              </a:spcAft>
              <a:defRPr sz="1100" b="1">
                <a:solidFill>
                  <a:srgbClr val="0F2341"/>
                </a:solidFill>
              </a:defRPr>
            </a:pPr>
            <a:r>
              <a:t>Dynamic Rate-of-Rise Modeling (dD/dt)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The Stagnant Water Trap: Static depth thresholds only warn commuters after the road is already impassable. 50mm of stagnant water is safe, but 50mm rising at 15mm/min is a lethal flash flood.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First-Derivative Velocity Engine: Firmware computes instantaneous time derivative: Surge Velocity = d(Depth)/dt.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Proactive Evacuation Window: If dD/dt &gt; 10 mm/min, system triggers a 'Flash Surge Imminent' alert even if current depth is only 60mm.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Commuters and transit buses receive an actionable 12 to 18 minute warning window before the underpass drowns.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212080" cy="41148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spcAft>
                <a:spcPts val="400"/>
              </a:spcAft>
              <a:defRPr sz="1100" b="1">
                <a:solidFill>
                  <a:srgbClr val="0F2341"/>
                </a:solidFill>
              </a:defRPr>
            </a:pPr>
            <a:r>
              <a:t>Manhole Geyser Pre-Blowout Sensing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The Hidden Hazard: Urban storm runoff creates immense underground hydraulic pressure that ejects 80kg cast-iron lids like explosive geysers.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Pneumatic Micro-Vibration Detection: Before a manhole lid blows off, trapped air pockets generate distinct 3 to 8 Hz micro-chatter.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Pre-Blowout Ejection Warning: MPU-6050 detects this vibration signature, sounding a 'Manhole Ejection Risk' alert 3 minutes before the cover blows.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Protects two-wheeler riders from hitting invisible displaced grates under opaque muddy floodwater.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fficial_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686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960120"/>
            <a:ext cx="4114800" cy="3200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7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277BD"/>
                </a:solidFill>
              </a:defRPr>
            </a:pPr>
            <a:r>
              <a:t>WINNING INNOVATION 4 (DEEP DIVE)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932688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F2341"/>
                </a:solidFill>
              </a:defRPr>
            </a:pPr>
            <a:r>
              <a:t>APP ID: VK26-IITH-SC-0552 | TRACK: SUSTAINABLE CITIES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2341"/>
                </a:solidFill>
              </a:defRPr>
            </a:pPr>
            <a:r>
              <a:t>Civic Pre-Monsoon Drainage Siltation &amp; Clogging Diagnostics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Transforming Seasonal Flood Hardware into a 365-Day Municipal Asset</a:t>
            </a:r>
          </a:p>
        </p:txBody>
      </p:sp>
      <p:pic>
        <p:nvPicPr>
          <p:cNvPr id="6" name="Picture 5" descr="slide_4_img_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63640"/>
            <a:ext cx="1645920" cy="502920"/>
          </a:xfrm>
          <a:prstGeom prst="rect">
            <a:avLst/>
          </a:prstGeom>
        </p:spPr>
      </p:pic>
      <p:pic>
        <p:nvPicPr>
          <p:cNvPr id="7" name="Picture 6" descr="slide_4_img_3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40" y="6263640"/>
            <a:ext cx="105156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2011680"/>
            <a:ext cx="5212080" cy="41148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spcAft>
                <a:spcPts val="400"/>
              </a:spcAft>
              <a:defRPr sz="1100" b="1">
                <a:solidFill>
                  <a:srgbClr val="0F2341"/>
                </a:solidFill>
              </a:defRPr>
            </a:pPr>
            <a:r>
              <a:t>Pre-Monsoon Drainage Recession Auditing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The Municipal Budget Problem: City governments hesitate to spend tax funds on IoT sensors that sit idle for 9 dry months of the year.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Hydraulic Recession Profiling: RainRoute tracks how quickly storm runoff clears from gutters after isolated summer thunderstorm showers.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Drainage Discharge Coefficient (Cd): Computes Cd = V_drained / (A * sqrt(2g * delta_h)).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Automated Siltation Detection: If a 100mm puddle took 20 minutes to clear in June but takes 2.5 hours in August, firmware automatically diagnoses: 'Drain 80% Silted / Choked'.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212080" cy="411480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spcAft>
                <a:spcPts val="400"/>
              </a:spcAft>
              <a:defRPr sz="1100" b="1">
                <a:solidFill>
                  <a:srgbClr val="0F2341"/>
                </a:solidFill>
              </a:defRPr>
            </a:pPr>
            <a:r>
              <a:t>Automated Municipal Work Orders &amp; Desilting ROI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Municipal Cloud Integration: Directly pushes choked drain coordinates to municipal sanitation dashboards (e.g., GHMC / BBMP).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Automated Desilting Work Orders: Dispatches vacuum desilting JCB trucks to exact GPS coordinates weeks before monsoon rains arrive.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Proactive vs Reactive Savings: Saves municipal corporations millions of rupees in emergency rescue operations and reactive suction pump deployments.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Eliminates 90% of monsoon road waterlogging by ensuring storm channels are 100% clean prior to heavy rainfall.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fficial_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686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960120"/>
            <a:ext cx="4114800" cy="3200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7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277BD"/>
                </a:solidFill>
              </a:defRPr>
            </a:pPr>
            <a:r>
              <a:t>WINNING INNOVATION 5 (DEEP DIVE)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932688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F2341"/>
                </a:solidFill>
              </a:defRPr>
            </a:pPr>
            <a:r>
              <a:t>APP ID: VK26-IITH-SC-0552 | TRACK: SUSTAINABLE CITIES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2341"/>
                </a:solidFill>
              </a:defRPr>
            </a:pPr>
            <a:r>
              <a:t>Beyond Monsoons: 365-Day Dual-Mode Civic ROI (₹0 Extra Sensors)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Repurposing Existing Sensors for Dry-Season Civic Utility</a:t>
            </a:r>
          </a:p>
        </p:txBody>
      </p:sp>
      <p:pic>
        <p:nvPicPr>
          <p:cNvPr id="6" name="Picture 5" descr="slide_4_img_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63640"/>
            <a:ext cx="1645920" cy="502920"/>
          </a:xfrm>
          <a:prstGeom prst="rect">
            <a:avLst/>
          </a:prstGeom>
        </p:spPr>
      </p:pic>
      <p:pic>
        <p:nvPicPr>
          <p:cNvPr id="7" name="Picture 6" descr="slide_4_img_3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40" y="6263640"/>
            <a:ext cx="105156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2011680"/>
            <a:ext cx="5212080" cy="41148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spcAft>
                <a:spcPts val="400"/>
              </a:spcAft>
              <a:defRPr sz="1100" b="1">
                <a:solidFill>
                  <a:srgbClr val="0F2341"/>
                </a:solidFill>
              </a:defRPr>
            </a:pPr>
            <a:r>
              <a:t>Summer Feature 1 &amp; 2: Drains &amp; Water Leaks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Feature 1: Solid Waste &amp; Debris Tracking (JSN-SR04T):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  - Ultrasonic sensor measures distance to concrete drain bed. Over dry months, as illegal plastic dumping occurs, measured distance decreases (2.0m -&gt; 1.3m).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  - Generates municipal debris clearance alerts with zero manual patrolling.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Feature 2: Drinking Water Pipe Burst Detection (JSN-SR04T):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  - If ultrasonic sensor detects running water in a storm drain on a 42°C sunny day with 0% rainfall, it mathematically deduces an underground potable water main burst.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  - Saves millions of liters of scarce drinking water in peak summer.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212080" cy="411480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spcAft>
                <a:spcPts val="400"/>
              </a:spcAft>
              <a:defRPr sz="1100" b="1">
                <a:solidFill>
                  <a:srgbClr val="0F2341"/>
                </a:solidFill>
              </a:defRPr>
            </a:pPr>
            <a:r>
              <a:t>Summer Feature 3 &amp; 4: Asset Security &amp; Heat Routing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Feature 3: Manhole Cover Anti-Theft Alarm (MPU-6050):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  - In dry months, scrap-metal thieves steal cast-iron covers at night. MPU-6050 senses high-G pry-bar shocks at 2:00 AM, transmitting live theft alerts to police.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Feature 4: Micro-Mobility Heat-Island Routing (MPU-6050 Thermometer):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  - MPU-6050 has an on-chip digital temperature sensor (Registers 0x41/0x42) accurate to ±1°C.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  - Maps roadside thermal heat islands, routing gig delivery riders (Zomato/Swiggy) through shaded tree-canopy corridors, reducing heat-stroke risk by 35%.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fficial_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686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960120"/>
            <a:ext cx="4114800" cy="3200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7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277BD"/>
                </a:solidFill>
              </a:defRPr>
            </a:pPr>
            <a:r>
              <a:t>WINNING INNOVATION 6 (DEEP DIVE)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932688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F2341"/>
                </a:solidFill>
              </a:defRPr>
            </a:pPr>
            <a:r>
              <a:t>APP ID: VK26-IITH-SC-0552 | TRACK: SUSTAINABLE CITIES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2341"/>
                </a:solidFill>
              </a:defRPr>
            </a:pPr>
            <a:r>
              <a:t>Smart City Integration, Public Safety &amp; 98.4% Unit Economics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WhatsApp Bot, 108 Ambulance Green Corridor &amp; Citywide Deployment</a:t>
            </a:r>
          </a:p>
        </p:txBody>
      </p:sp>
      <p:pic>
        <p:nvPicPr>
          <p:cNvPr id="6" name="Picture 5" descr="slide_4_img_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63640"/>
            <a:ext cx="1645920" cy="502920"/>
          </a:xfrm>
          <a:prstGeom prst="rect">
            <a:avLst/>
          </a:prstGeom>
        </p:spPr>
      </p:pic>
      <p:pic>
        <p:nvPicPr>
          <p:cNvPr id="7" name="Picture 6" descr="slide_4_img_3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40" y="6263640"/>
            <a:ext cx="1051560" cy="502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2011680"/>
            <a:ext cx="5212080" cy="41148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spcAft>
                <a:spcPts val="400"/>
              </a:spcAft>
              <a:defRPr sz="1100" b="1">
                <a:solidFill>
                  <a:srgbClr val="0F2341"/>
                </a:solidFill>
              </a:defRPr>
            </a:pPr>
            <a:r>
              <a:t>Smart City Life-Safety Integrations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1. WhatsApp Emergency Bot ('Zero-App' Accessibility): Commuters share live location to receive current depth and Google Maps flyover bypass in 2 seconds.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2. 108 Ambulance Pre-Diverter API: Connects to emergency ambulance dispatch to reroute emergency patient transport before leaving hospital bays.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3. EV Charging Station Flood Lockout: Automatically trips 415V/230V AC contactors at roadside EV charging stations when water &gt;100mm to eliminate public electrocution hazards.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4. Sensor-Vetted Truth-Score Algorithm: Citizen crowd flood reports are cross-checked against nearest RainRoute node to filter out fake flood photos.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212080" cy="411480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spcAft>
                <a:spcPts val="400"/>
              </a:spcAft>
              <a:defRPr sz="1100" b="1">
                <a:solidFill>
                  <a:srgbClr val="0F2341"/>
                </a:solidFill>
              </a:defRPr>
            </a:pPr>
            <a:r>
              <a:t>Unit Economics &amp; Hyderabad Deployment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CapEx Cost Disruption: Traditional industrial flood stations cost ₹1,50,000+. RainRoute modular autonomous node costs just ₹2,275 (98.4% cost reduction).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Corridor Scalability: A complete 10km urban corridor (20 nodes) costs only ₹45,500.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Rapid Payback: Preventing just two vehicle engine seizures (2 x ₹35,000 = ₹70,000) completely recovers the deployment cost of an entire waterlogged underpass corridor.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Immediate Target Corridors: Begumpet Underpass, Malakpet Rail Underbridge, Khairatabad flyover sag point, and Gachibowli junction.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fficial_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686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960120"/>
            <a:ext cx="4114800" cy="3200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7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277BD"/>
                </a:solidFill>
              </a:defRPr>
            </a:pPr>
            <a:r>
              <a:t>SUSTAINABLE DEVELOPMENT GOALS (SDGS)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932688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F2341"/>
                </a:solidFill>
              </a:defRPr>
            </a:pPr>
            <a:r>
              <a:t>APP ID: VK26-IITH-SC-0552 | TRACK: SUSTAINABLE CITIES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2341"/>
                </a:solidFill>
              </a:defRPr>
            </a:pPr>
            <a:r>
              <a:t>Alignment with United Nations Sustainable Development Goals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Direct Contribution to 6 Core Global Sustainability Targets</a:t>
            </a:r>
          </a:p>
        </p:txBody>
      </p:sp>
      <p:pic>
        <p:nvPicPr>
          <p:cNvPr id="6" name="Picture 5" descr="slide_4_img_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63640"/>
            <a:ext cx="1645920" cy="502920"/>
          </a:xfrm>
          <a:prstGeom prst="rect">
            <a:avLst/>
          </a:prstGeom>
        </p:spPr>
      </p:pic>
      <p:pic>
        <p:nvPicPr>
          <p:cNvPr id="7" name="Picture 6" descr="slide_4_img_3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40" y="6263640"/>
            <a:ext cx="1051560" cy="502920"/>
          </a:xfrm>
          <a:prstGeom prst="rect">
            <a:avLst/>
          </a:prstGeom>
        </p:spPr>
      </p:pic>
      <p:pic>
        <p:nvPicPr>
          <p:cNvPr id="8" name="Picture 7" descr="sdg_goal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011680"/>
            <a:ext cx="4114800" cy="26060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1520" y="4709160"/>
            <a:ext cx="4114800" cy="141732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spcAft>
                <a:spcPts val="400"/>
              </a:spcAft>
              <a:defRPr sz="1100" b="1">
                <a:solidFill>
                  <a:srgbClr val="0F2341"/>
                </a:solidFill>
              </a:defRPr>
            </a:pPr>
            <a:r>
              <a:t>Primary Alignment: SDG 11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Goal 11: Sustainable Cities &amp; Communities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Target 11.2: Safe, resilient and affordable public transport networks for all.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Target 11.5: Significant reduction of flood disaster casualties and road economic losses.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011680"/>
            <a:ext cx="6430975" cy="41148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82880" bIns="137160"/>
          <a:lstStyle/>
          <a:p>
            <a:pPr algn="ctr">
              <a:spcAft>
                <a:spcPts val="400"/>
              </a:spcAft>
              <a:defRPr sz="1100" b="1">
                <a:solidFill>
                  <a:srgbClr val="0F2341"/>
                </a:solidFill>
              </a:defRPr>
            </a:pPr>
            <a:r>
              <a:t>Direct Impact on 5 Supporting UN SDGs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SDG 9: Industry, Innovation &amp; Infrastructure (Target 9.1):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  - Develops quality, reliable, and disaster-resilient roadside IoT infrastructure with 98.4% cost reduction (₹2,275), enabling mass municipal deployment.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SDG 3: Good Health &amp; Well-Being (Target 3.6):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  - Halves road traffic deaths and injuries by detecting open/submerged manholes and pre-diverting 108 emergency ambulances around waterlogged traps.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SDG 13: Climate Action (Target 13.1):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  - Strengthens institutional and commuter adaptive resilience against escalating monsoon cloudbursts and urban flash-flood disaster frequencies.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SDG 6: Clean Water &amp; Sanitation (Target 6.4):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  - Repurposed in summer to detect underground drinking water main pipeline leaks on sunny days, saving millions of liters of potable municipal water.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SDG 7: Affordable &amp; Clean Energy (Target 7.2):</a:t>
            </a:r>
          </a:p>
          <a:p>
            <a:pPr>
              <a:spcAft>
                <a:spcPts val="350"/>
              </a:spcAft>
              <a:defRPr sz="900">
                <a:solidFill>
                  <a:srgbClr val="1E293B"/>
                </a:solidFill>
              </a:defRPr>
            </a:pPr>
            <a:r>
              <a:t>•   - Operates 100% on autonomous solar energy harvesting; isolates public EV charging stations during floods to prevent electrical hazards.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86868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960120"/>
            <a:ext cx="4400000" cy="3200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7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277BD"/>
                </a:solidFill>
              </a:defRPr>
            </a:pPr>
            <a:r>
              <a:t>COMMUTER MOBILE APPLICATION (FLUTTER UX)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93268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0F2341"/>
                </a:solidFill>
              </a:defRPr>
            </a:pPr>
            <a:r>
              <a:t>APP ID: VK26-IITH-SC-0552 | TRACK: SUSTAINABLE CITIES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2341"/>
                </a:solidFill>
              </a:defRPr>
            </a:pPr>
            <a:r>
              <a:t>Cross-Platform Commuter Mobile Application &amp; Real-Time Alert UI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Vehicle-Stratified Hydrolock Advisory, Manhole Displacement Warning &amp; Zero-Data BLE UX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63640"/>
            <a:ext cx="1645920" cy="50292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40" y="6263640"/>
            <a:ext cx="1051560" cy="502920"/>
          </a:xfrm>
          <a:prstGeom prst="rect">
            <a:avLst/>
          </a:prstGeom>
        </p:spPr>
      </p:pic>
      <p:pic>
        <p:nvPicPr>
          <p:cNvPr id="8" name="Picture 7" descr="rainroute_mobile_app_u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011680"/>
            <a:ext cx="6000000" cy="364298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900000" y="2011680"/>
            <a:ext cx="456000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100" b="1">
                <a:solidFill>
                  <a:srgbClr val="0F2341"/>
                </a:solidFill>
              </a:defRPr>
            </a:pPr>
            <a:r>
              <a:t>Core UI Screens &amp; Commuter UX Architecture</a:t>
            </a:r>
          </a:p>
          <a:p>
            <a:pPr>
              <a:spcBef>
                <a:spcPts val="400"/>
              </a:spcBef>
              <a:defRPr sz="950" b="1">
                <a:solidFill>
                  <a:srgbClr val="0277BD"/>
                </a:solidFill>
              </a:defRPr>
            </a:pPr>
            <a:r>
              <a:t>Screen 1: Dynamic Hydrolock Navigator</a:t>
            </a:r>
          </a:p>
          <a:p>
            <a:pPr>
              <a:spcBef>
                <a:spcPts val="100"/>
              </a:spcBef>
              <a:defRPr sz="850" b="0">
                <a:solidFill>
                  <a:srgbClr val="1E293B"/>
                </a:solidFill>
              </a:defRPr>
            </a:pPr>
            <a:r>
              <a:t>• Vehicle Clearance Profiler: Stratified risk engine allows commuters to select vehicle profile (2-Wheeler: 150mm exhaust limit | Car: 250mm | Transit Bus: 450mm).</a:t>
            </a:r>
          </a:p>
          <a:p>
            <a:pPr>
              <a:spcBef>
                <a:spcPts val="100"/>
              </a:spcBef>
              <a:defRPr sz="850" b="0">
                <a:solidFill>
                  <a:srgbClr val="1E293B"/>
                </a:solidFill>
              </a:defRPr>
            </a:pPr>
            <a:r>
              <a:t>• Dynamic Detour Engine: Color-coded vector map detects waterlogged underpasses (Red &gt;150mm) and computes real-time flyover bypass (+3.2 min delta).</a:t>
            </a:r>
          </a:p>
          <a:p>
            <a:pPr>
              <a:spcBef>
                <a:spcPts val="100"/>
              </a:spcBef>
              <a:defRPr sz="850" b="0">
                <a:solidFill>
                  <a:srgbClr val="1E293B"/>
                </a:solidFill>
              </a:defRPr>
            </a:pPr>
            <a:r>
              <a:t>• Hydrolock Advisory Card: Computes exact submersion risk (+90mm over exhaust pipe) to prevent catastrophic engine seizure before entry.</a:t>
            </a:r>
          </a:p>
          <a:p>
            <a:pPr>
              <a:spcBef>
                <a:spcPts val="400"/>
              </a:spcBef>
              <a:defRPr sz="950" b="1">
                <a:solidFill>
                  <a:srgbClr val="DC2626"/>
                </a:solidFill>
              </a:defRPr>
            </a:pPr>
            <a:r>
              <a:t>Screen 2: Manhole Displacement Warning Modal</a:t>
            </a:r>
          </a:p>
          <a:p>
            <a:pPr>
              <a:spcBef>
                <a:spcPts val="100"/>
              </a:spcBef>
              <a:defRPr sz="850" b="0">
                <a:solidFill>
                  <a:srgbClr val="1E293B"/>
                </a:solidFill>
              </a:defRPr>
            </a:pPr>
            <a:r>
              <a:t>• Instant Hazard Interrupt: Triggered within &lt;500ms when roadside pod detects &gt;15° lid tilt or &gt;0.3g displacement impact shock.</a:t>
            </a:r>
          </a:p>
          <a:p>
            <a:pPr>
              <a:spcBef>
                <a:spcPts val="100"/>
              </a:spcBef>
              <a:defRPr sz="850" b="0">
                <a:solidFill>
                  <a:srgbClr val="1E293B"/>
                </a:solidFill>
              </a:defRPr>
            </a:pPr>
            <a:r>
              <a:t>• Lane Action Directive: Displays distance (110m) and mandates: 'MERGE RIGHT TO CENTER LANE NOW' to prevent fatal falls.</a:t>
            </a:r>
          </a:p>
          <a:p>
            <a:pPr>
              <a:spcBef>
                <a:spcPts val="100"/>
              </a:spcBef>
              <a:defRPr sz="850" b="0">
                <a:solidFill>
                  <a:srgbClr val="1E293B"/>
                </a:solidFill>
              </a:defRPr>
            </a:pPr>
            <a:r>
              <a:t>• Binaural Haptic Alert: Transmits vibration pattern and voice prompt directly to rider's Bluetooth helmet communicator or phone.</a:t>
            </a:r>
          </a:p>
          <a:p>
            <a:pPr>
              <a:spcBef>
                <a:spcPts val="400"/>
              </a:spcBef>
              <a:defRPr sz="950" b="1">
                <a:solidFill>
                  <a:srgbClr val="B45309"/>
                </a:solidFill>
              </a:defRPr>
            </a:pPr>
            <a:r>
              <a:t>Screen 3: Zero-Data Offline BLE Emergency UX</a:t>
            </a:r>
          </a:p>
          <a:p>
            <a:pPr>
              <a:spcBef>
                <a:spcPts val="100"/>
              </a:spcBef>
              <a:defRPr sz="850" b="0">
                <a:solidFill>
                  <a:srgbClr val="1E293B"/>
                </a:solidFill>
              </a:defRPr>
            </a:pPr>
            <a:r>
              <a:t>• Hardware-Level Beaconing: Passing commuters receive direct BLE Eddystone push notifications within 80m without SIM signal, active 4G/5G, or cellular data.</a:t>
            </a:r>
          </a:p>
          <a:p>
            <a:pPr>
              <a:spcBef>
                <a:spcPts val="100"/>
              </a:spcBef>
              <a:defRPr sz="850" b="0">
                <a:solidFill>
                  <a:srgbClr val="1E293B"/>
                </a:solidFill>
              </a:defRPr>
            </a:pPr>
            <a:r>
              <a:t>• Wi-Fi Emergency SSID: ESP32 broadcasts '! WARNING: UNDERPASS FLOODED (310mm) - DIVERT !' directly visible in phone Wi-Fi settings.</a:t>
            </a:r>
          </a:p>
          <a:p>
            <a:pPr>
              <a:spcBef>
                <a:spcPts val="400"/>
              </a:spcBef>
              <a:defRPr sz="950" b="1">
                <a:solidFill>
                  <a:srgbClr val="0F766E"/>
                </a:solidFill>
              </a:defRPr>
            </a:pPr>
            <a:r>
              <a:t>Cross-Platform Tech Stack &amp; Performance</a:t>
            </a:r>
          </a:p>
          <a:p>
            <a:pPr>
              <a:spcBef>
                <a:spcPts val="100"/>
              </a:spcBef>
              <a:defRPr sz="850" b="0">
                <a:solidFill>
                  <a:srgbClr val="1E293B"/>
                </a:solidFill>
              </a:defRPr>
            </a:pPr>
            <a:r>
              <a:t>• Flutter (Dart) for Android &amp; iOS; Google Cloud Firestore live synchronization (&lt;500ms latency); battery footprint &lt;1.8%/hr.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